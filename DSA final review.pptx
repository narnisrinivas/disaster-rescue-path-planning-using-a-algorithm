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ni Srinivas" userId="9589c020ebaf8781" providerId="LiveId" clId="{547BC964-5A23-4EC7-B084-9BB795658ACC}"/>
    <pc:docChg chg="addSld delSld modSld">
      <pc:chgData name="Narni Srinivas" userId="9589c020ebaf8781" providerId="LiveId" clId="{547BC964-5A23-4EC7-B084-9BB795658ACC}" dt="2026-04-10T12:14:21.161" v="68" actId="1076"/>
      <pc:docMkLst>
        <pc:docMk/>
      </pc:docMkLst>
      <pc:sldChg chg="modSp mod">
        <pc:chgData name="Narni Srinivas" userId="9589c020ebaf8781" providerId="LiveId" clId="{547BC964-5A23-4EC7-B084-9BB795658ACC}" dt="2026-04-10T12:14:21.161" v="68" actId="1076"/>
        <pc:sldMkLst>
          <pc:docMk/>
          <pc:sldMk cId="1444333469" sldId="256"/>
        </pc:sldMkLst>
        <pc:spChg chg="mod">
          <ac:chgData name="Narni Srinivas" userId="9589c020ebaf8781" providerId="LiveId" clId="{547BC964-5A23-4EC7-B084-9BB795658ACC}" dt="2026-04-10T12:14:21.161" v="68" actId="1076"/>
          <ac:spMkLst>
            <pc:docMk/>
            <pc:sldMk cId="1444333469" sldId="256"/>
            <ac:spMk id="2" creationId="{5201F98B-DD5E-6B06-F010-A891CA66C6A6}"/>
          </ac:spMkLst>
        </pc:spChg>
        <pc:spChg chg="mod">
          <ac:chgData name="Narni Srinivas" userId="9589c020ebaf8781" providerId="LiveId" clId="{547BC964-5A23-4EC7-B084-9BB795658ACC}" dt="2026-04-10T12:14:13.437" v="67" actId="20577"/>
          <ac:spMkLst>
            <pc:docMk/>
            <pc:sldMk cId="1444333469" sldId="256"/>
            <ac:spMk id="3" creationId="{EB65C1F9-0B12-3487-CDF8-CED06E9152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81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0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1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06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71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7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8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1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17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42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07656E0-F496-431D-A5D4-63435E315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26B5489-2DE2-4BE5-9631-30D385A546F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639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F98B-DD5E-6B06-F010-A891CA66C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6134" y="1902542"/>
            <a:ext cx="9159732" cy="833874"/>
          </a:xfrm>
        </p:spPr>
        <p:txBody>
          <a:bodyPr>
            <a:noAutofit/>
          </a:bodyPr>
          <a:lstStyle/>
          <a:p>
            <a:pPr algn="ctr"/>
            <a:br>
              <a:rPr lang="en-US" sz="3200" dirty="0"/>
            </a:br>
            <a:r>
              <a:rPr lang="en-US" sz="3200" b="1" u="sng" dirty="0"/>
              <a:t>Disaster Rescue Path Planning using A* Algorithm</a:t>
            </a:r>
            <a:endParaRPr lang="en-IN" sz="32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5C1F9-0B12-3487-CDF8-CED06E915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9416" y="3736382"/>
            <a:ext cx="4885470" cy="1887793"/>
          </a:xfrm>
        </p:spPr>
        <p:txBody>
          <a:bodyPr>
            <a:noAutofit/>
          </a:bodyPr>
          <a:lstStyle/>
          <a:p>
            <a:endParaRPr lang="en-IN" sz="2000" cap="none" dirty="0">
              <a:solidFill>
                <a:schemeClr val="bg1"/>
              </a:solidFill>
              <a:latin typeface="+mj-lt"/>
            </a:endParaRPr>
          </a:p>
          <a:p>
            <a:endParaRPr lang="en-IN" sz="2000" cap="none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4333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3709-1507-B246-C67C-70574C9F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6917"/>
            <a:ext cx="10559845" cy="1009772"/>
          </a:xfrm>
        </p:spPr>
        <p:txBody>
          <a:bodyPr>
            <a:normAutofit/>
          </a:bodyPr>
          <a:lstStyle/>
          <a:p>
            <a:r>
              <a:rPr lang="en-IN" sz="2400" b="1" u="sng" dirty="0"/>
              <a:t>Application Domain - Disaster Rescue Path Planning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DF8ACC-B5FA-14EE-633F-96586B33B0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355" y="1899255"/>
            <a:ext cx="1143759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Our project belongs to the field of Disaster Management and Emergency Response. 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During disasters like earthquakes, floods, cyclones, or building collapses, the main challenge is that roads       are blocked, areas are unsafe, and time is very critical.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Rescue teams must quickly decide the best path to reach people who are trapped.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Manually choosing a path is difficult, so we use the A* algorithm to find the shortest and safest route automatically. 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000" b="1" u="sng" dirty="0">
                <a:solidFill>
                  <a:schemeClr val="accent1"/>
                </a:solidFill>
                <a:latin typeface="+mj-lt"/>
              </a:rPr>
              <a:t>How our project helps</a:t>
            </a:r>
            <a:r>
              <a:rPr lang="en-US" sz="2000" dirty="0">
                <a:solidFill>
                  <a:schemeClr val="accent1"/>
                </a:solidFill>
                <a:latin typeface="+mj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It shows a grid map with free paths and blocked areas (obstacles).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The A* algorithm calculates the fastest path from the start point to the goal point.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It avoids dangerous or blocked cells and only selects possible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4184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7A18-3D52-028D-B050-6BEA7EEF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805" y="770982"/>
            <a:ext cx="7795892" cy="1013800"/>
          </a:xfrm>
        </p:spPr>
        <p:txBody>
          <a:bodyPr>
            <a:normAutofit/>
          </a:bodyPr>
          <a:lstStyle/>
          <a:p>
            <a:r>
              <a:rPr lang="en-US" altLang="en-US" sz="2400" b="1" u="sng" dirty="0"/>
              <a:t>Data Structure / Graph Algorithm</a:t>
            </a:r>
            <a:br>
              <a:rPr lang="en-US" altLang="en-US" sz="2400" b="1" u="sng" dirty="0"/>
            </a:br>
            <a:endParaRPr lang="en-IN" sz="24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9719C7-F29C-9443-6121-01D79AF4A0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277" y="1995130"/>
            <a:ext cx="1120877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 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Algorithm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A* (A-Star) Pathfinding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Why A* Algorithm?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Finds the shortest path efficiently in a unweighted grid.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Uses a heuristic function (Manhattan Distance) to guide the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Faster and more accurate than simple algorithms like BFS or Dijkstra in grid-based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Suitable for real-time rescue operations where time is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Data Structure Used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Min Heap (Priority Queue) to manage the “open list” of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Always expands the node with the lowest cost (f = g + h)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Ensures optimal path selection with minimum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How it is applied in our project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Grid cells represent roads (free) and obstacles (blocked).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A* explores possible paths, guided by the Min Heap, until it reaches the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330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9424-388D-B071-E048-82BE5977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680" y="761150"/>
            <a:ext cx="4000640" cy="1013800"/>
          </a:xfrm>
        </p:spPr>
        <p:txBody>
          <a:bodyPr>
            <a:normAutofit/>
          </a:bodyPr>
          <a:lstStyle/>
          <a:p>
            <a:r>
              <a:rPr lang="en-US" altLang="en-US" sz="2400" b="1" u="sng" cap="none" dirty="0"/>
              <a:t>Min Heap Operations</a:t>
            </a:r>
            <a:br>
              <a:rPr lang="en-US" altLang="en-US" sz="2400" b="1" u="sng" cap="none" dirty="0"/>
            </a:br>
            <a:endParaRPr lang="en-IN" sz="24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7D37CA-FDDD-AC1B-01BC-EADE67A14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9" y="1926615"/>
            <a:ext cx="108744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push(item)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Insert a new node into the heap.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The node may move upward (sift up) until heap order is correct.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Time Complexity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Best case: O(1) (if no swaps needed)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Worst case: O(log n) (if it travels up the heap height)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26E6D0-E910-C7F1-5460-BBEB08102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8" y="3928010"/>
            <a:ext cx="10874477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pop()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Removes the smallest element.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The last node moves to the root, then moves downward (sift down) until heap order is correct.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Time Complexity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Best case: O(1) (if root has no children)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Worst case: O(log n) (if it travels down to the bottom)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Why Heap?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Ensures we always expand the node with the lowest cost first, which makes A* 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630E-EEDB-A30C-1A35-EBA6CE7C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928" y="711428"/>
            <a:ext cx="3274143" cy="1013800"/>
          </a:xfrm>
        </p:spPr>
        <p:txBody>
          <a:bodyPr>
            <a:normAutofit/>
          </a:bodyPr>
          <a:lstStyle/>
          <a:p>
            <a:r>
              <a:rPr lang="en-US" altLang="en-US" sz="2400" b="1" u="sng" cap="none" dirty="0">
                <a:latin typeface="Arial" panose="020B0604020202020204" pitchFamily="34" charset="0"/>
              </a:rPr>
              <a:t> A* Search Algorithm</a:t>
            </a:r>
            <a:br>
              <a:rPr lang="en-US" altLang="en-US" sz="2400" b="1" u="sng" cap="none" dirty="0">
                <a:latin typeface="Arial" panose="020B0604020202020204" pitchFamily="34" charset="0"/>
              </a:rPr>
            </a:br>
            <a:endParaRPr lang="en-IN" sz="24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A7CF68-485A-42EC-C387-8341C3CDB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9316" y="2474199"/>
            <a:ext cx="921774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Working Steps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Start with the initial node.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Use Min Heap to pick the node with the lowest f = g + 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Explore its neighbors (up, down, left, right).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Skip blocked cells (obstacles).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Update g-cost if a shorter path is found.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Continue until the goal is reached.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Reconstruct the path from start to goal.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92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DF0B-68CA-88BE-67F5-FF47D11C2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554" y="702156"/>
            <a:ext cx="3667433" cy="1013800"/>
          </a:xfrm>
        </p:spPr>
        <p:txBody>
          <a:bodyPr>
            <a:normAutofit fontScale="90000"/>
          </a:bodyPr>
          <a:lstStyle/>
          <a:p>
            <a:r>
              <a:rPr lang="en-US" altLang="en-US" b="1" u="sng" cap="none" dirty="0">
                <a:latin typeface="Arial" panose="020B0604020202020204" pitchFamily="34" charset="0"/>
              </a:rPr>
              <a:t> A* Search </a:t>
            </a:r>
            <a:r>
              <a:rPr lang="en-US" altLang="en-US" sz="2700" b="1" u="sng" cap="none" dirty="0">
                <a:latin typeface="Arial" panose="020B0604020202020204" pitchFamily="34" charset="0"/>
              </a:rPr>
              <a:t>Algorithm</a:t>
            </a:r>
            <a:br>
              <a:rPr lang="en-US" altLang="en-US" b="1" u="sng" cap="none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2ABD4-DC74-5CF8-3E6D-896423DC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670" y="2662276"/>
            <a:ext cx="11029615" cy="3678303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u="sng" dirty="0">
                <a:solidFill>
                  <a:schemeClr val="accent1"/>
                </a:solidFill>
                <a:latin typeface="+mj-lt"/>
              </a:rPr>
              <a:t>Time Complexity</a:t>
            </a:r>
            <a:r>
              <a:rPr lang="en-US" alt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u="sng" dirty="0">
                <a:solidFill>
                  <a:schemeClr val="accent1"/>
                </a:solidFill>
                <a:latin typeface="+mj-lt"/>
              </a:rPr>
              <a:t>Best Case</a:t>
            </a:r>
            <a:r>
              <a:rPr lang="en-US" alt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The goal is very close to the start.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A* expands only a few nodes.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O(1) to O(log V) (only a few heap operations).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u="sng" dirty="0">
                <a:solidFill>
                  <a:schemeClr val="accent1"/>
                </a:solidFill>
                <a:latin typeface="+mj-lt"/>
              </a:rPr>
              <a:t>Worst Case</a:t>
            </a:r>
            <a:r>
              <a:rPr lang="en-US" alt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The goal is far or obstacles exploring most nodes.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Every node is pushed/popped in heap.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O(E log V) where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    V = number of vertices (grid cells)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    E = number of edges (possible moves)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u="sng" dirty="0">
                <a:solidFill>
                  <a:schemeClr val="accent1"/>
                </a:solidFill>
                <a:latin typeface="+mj-lt"/>
              </a:rPr>
              <a:t>Summary</a:t>
            </a:r>
            <a:r>
              <a:rPr lang="en-US" alt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Best Case → Very fast (almost constant).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Worst Case → O(E log V), but still more efficient than BFS or Dijkstra in practice.</a:t>
            </a:r>
          </a:p>
          <a:p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7990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AE5C-31D6-C8EB-8E5F-7E409BF1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702156"/>
            <a:ext cx="6204155" cy="1013800"/>
          </a:xfrm>
        </p:spPr>
        <p:txBody>
          <a:bodyPr>
            <a:normAutofit/>
          </a:bodyPr>
          <a:lstStyle/>
          <a:p>
            <a:r>
              <a:rPr lang="en-US" altLang="en-US" sz="2400" b="1" u="sng" cap="none" dirty="0"/>
              <a:t>Heuristic Function (Manhattan Distance)</a:t>
            </a:r>
            <a:br>
              <a:rPr lang="en-US" altLang="en-US" sz="2400" cap="none" dirty="0"/>
            </a:b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C35768-8850-A839-E9D2-66349531F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520" y="2238404"/>
            <a:ext cx="1111919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Definition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A heuristic is an estimate of the cost from the current node to the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Formula (Manhattan Distance):</a:t>
            </a:r>
            <a:endParaRPr lang="en-US" altLang="en-US" sz="2000" dirty="0">
              <a:solidFill>
                <a:schemeClr val="accent1"/>
              </a:solidFill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h(x, y) = |x1 – x2| + |y1 – y2|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Why Manhattan Distance?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Movement is only allowed in 4 directions (up, down, left, right).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It gives a good and fast estimate of remaining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Time Complexity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</a:rPr>
              <a:t>O(1) (only subtraction and addition are performed).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756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8976-5973-F907-A1A9-7913C5BE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523" y="672659"/>
            <a:ext cx="3028335" cy="792347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Results : table</a:t>
            </a:r>
            <a:endParaRPr lang="en-IN" sz="2400" b="1" u="sng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5D7FC88-FFB5-A138-DFC6-156F78EF9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380" y="2792361"/>
            <a:ext cx="6528619" cy="252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5C9E-8EA0-0D4A-30CE-49833D4D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534" y="702156"/>
            <a:ext cx="3087331" cy="841509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results : graph</a:t>
            </a:r>
            <a:endParaRPr lang="en-IN" sz="2400" b="1" u="sng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430154D-AF2B-D6C6-CBEC-0DF8999B9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3265" y="2182762"/>
            <a:ext cx="7482347" cy="405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8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C735E-6B44-A77C-820F-B56B639FB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61" y="2326313"/>
            <a:ext cx="10058400" cy="3931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>
                <a:solidFill>
                  <a:schemeClr val="accent1"/>
                </a:solidFill>
                <a:latin typeface="+mj-lt"/>
              </a:rPr>
              <a:t>Advantages</a:t>
            </a:r>
            <a:r>
              <a:rPr 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sz="2000" dirty="0">
              <a:solidFill>
                <a:schemeClr val="accent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Works well on grids (like 10×10 up to around 100×100 or even 500×500), it runs fast and smooth.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Always gives the shortest path.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Simple to understand and implement.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Fast for small and medium grids.</a:t>
            </a:r>
          </a:p>
          <a:p>
            <a:pPr marL="0" indent="0">
              <a:buNone/>
            </a:pPr>
            <a:r>
              <a:rPr lang="en-US" sz="2000" b="1" u="sng" dirty="0">
                <a:solidFill>
                  <a:schemeClr val="accent1"/>
                </a:solidFill>
                <a:latin typeface="+mj-lt"/>
              </a:rPr>
              <a:t> Drawbacks</a:t>
            </a:r>
            <a:r>
              <a:rPr lang="en-US" sz="2000" b="1" dirty="0">
                <a:solidFill>
                  <a:schemeClr val="accent1"/>
                </a:solidFill>
                <a:latin typeface="+mj-lt"/>
              </a:rPr>
              <a:t>:</a:t>
            </a:r>
            <a:endParaRPr lang="en-US" sz="2000" dirty="0">
              <a:solidFill>
                <a:schemeClr val="accent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For very large grids, it becomes slow and uses more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Not best for huge maps in real-time.</a:t>
            </a:r>
          </a:p>
          <a:p>
            <a:endParaRPr lang="en-IN" sz="20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879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7AB8-7217-67AB-D2E3-1877A9D0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975" y="3429000"/>
            <a:ext cx="2231923" cy="680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THANK YOU</a:t>
            </a:r>
            <a:endParaRPr lang="en-IN" sz="28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86409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1130</TotalTime>
  <Words>815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 2</vt:lpstr>
      <vt:lpstr>Dividend</vt:lpstr>
      <vt:lpstr> Disaster Rescue Path Planning using A* Algorithm</vt:lpstr>
      <vt:lpstr>Application Domain - Disaster Rescue Path Planning </vt:lpstr>
      <vt:lpstr>Data Structure / Graph Algorithm </vt:lpstr>
      <vt:lpstr>Min Heap Operations </vt:lpstr>
      <vt:lpstr> A* Search Algorithm </vt:lpstr>
      <vt:lpstr> A* Search Algorithm </vt:lpstr>
      <vt:lpstr>Heuristic Function (Manhattan Distance) </vt:lpstr>
      <vt:lpstr>Results : table</vt:lpstr>
      <vt:lpstr>results : 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Narni Srinivas</dc:creator>
  <cp:lastModifiedBy>Narni Srinivas</cp:lastModifiedBy>
  <cp:revision>1</cp:revision>
  <dcterms:created xsi:type="dcterms:W3CDTF">2025-10-05T11:23:47Z</dcterms:created>
  <dcterms:modified xsi:type="dcterms:W3CDTF">2026-04-10T12:14:22Z</dcterms:modified>
</cp:coreProperties>
</file>